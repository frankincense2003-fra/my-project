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Customer Research &amp;</a:t>
            </a:r>
            <a:br/>
            <a:r>
              <a:t>Market Insights Analytics</a:t>
            </a:r>
          </a:p>
          <a:p>
            <a:pPr>
              <a:defRPr sz="1800">
                <a:solidFill>
                  <a:srgbClr val="BED2E6"/>
                </a:solidFill>
              </a:defRPr>
            </a:pPr>
            <a:r>
              <a:t>Project 1 • Data Science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388620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FFFFFF"/>
                </a:solidFill>
              </a:defRPr>
            </a:pPr>
            <a:r>
              <a:t>Using customer shopping data to understand behaviour, satisfaction, purchasing patterns and loyalty.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5989320"/>
            <a:ext cx="4123055" cy="3987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ED2E6"/>
                </a:solidFill>
              </a:defRPr>
            </a:pPr>
            <a:r>
              <a:rPr sz="2000" b="1"/>
              <a:t>Presented by Francis Chukwunonyere</a:t>
            </a:r>
            <a:endParaRPr sz="20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A"/>
                </a:solidFill>
              </a:defRPr>
            </a:pPr>
            <a:r>
              <a:t>Project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C7A"/>
                </a:solidFill>
              </a:defRPr>
            </a:pPr>
            <a:r>
              <a:t>Turning customer data into actionable business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32A32"/>
                </a:solidFill>
              </a:defRPr>
            </a:pPr>
            <a:r>
              <a:t>• Understand customer behaviour and purchasing patterns.</a:t>
            </a:r>
          </a:p>
          <a:p>
            <a:pPr>
              <a:spcAft>
                <a:spcPts val="1000"/>
              </a:spcAft>
              <a:defRPr sz="2100">
                <a:solidFill>
                  <a:srgbClr val="232A32"/>
                </a:solidFill>
              </a:defRPr>
            </a:pPr>
            <a:r>
              <a:t>• Assess customer satisfaction using review ratings.</a:t>
            </a:r>
          </a:p>
          <a:p>
            <a:pPr>
              <a:spcAft>
                <a:spcPts val="1000"/>
              </a:spcAft>
              <a:defRPr sz="2100">
                <a:solidFill>
                  <a:srgbClr val="232A32"/>
                </a:solidFill>
              </a:defRPr>
            </a:pPr>
            <a:r>
              <a:t>• Identify useful demographic, product and shopping trends.</a:t>
            </a:r>
          </a:p>
          <a:p>
            <a:pPr>
              <a:spcAft>
                <a:spcPts val="1000"/>
              </a:spcAft>
              <a:defRPr sz="2100">
                <a:solidFill>
                  <a:srgbClr val="232A32"/>
                </a:solidFill>
              </a:defRPr>
            </a:pPr>
            <a:r>
              <a:t>• Use exploratory analysis to support business decisions.</a:t>
            </a:r>
          </a:p>
          <a:p>
            <a:pPr>
              <a:spcAft>
                <a:spcPts val="1000"/>
              </a:spcAft>
              <a:defRPr sz="2100">
                <a:solidFill>
                  <a:srgbClr val="232A32"/>
                </a:solidFill>
              </a:defRPr>
            </a:pPr>
            <a:r>
              <a:t>• Translate findings into practical recommendations.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510528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C7A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A"/>
                </a:solidFill>
              </a:defRPr>
            </a:pPr>
            <a:r>
              <a:t>Dataset &amp; Data Inspection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C7A"/>
                </a:solidFill>
              </a:defRPr>
            </a:pPr>
            <a:r>
              <a:t>The first stage was to understand the structure and quality of the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246888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81912"/>
            <a:ext cx="219456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600" b="1">
                <a:solidFill>
                  <a:srgbClr val="2A5C91"/>
                </a:solidFill>
              </a:rPr>
              <a:t>3,900</a:t>
            </a:r>
            <a:endParaRPr sz="2600" b="1">
              <a:solidFill>
                <a:srgbClr val="2A5C91"/>
              </a:solidFill>
            </a:endParaRPr>
          </a:p>
          <a:p>
            <a:pPr algn="ctr"/>
            <a:r>
              <a:rPr sz="1100">
                <a:solidFill>
                  <a:srgbClr val="5F6C7A"/>
                </a:solidFill>
              </a:rPr>
              <a:t>customer records</a:t>
            </a:r>
            <a:endParaRPr sz="1100">
              <a:solidFill>
                <a:srgbClr val="5F6C7A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474720" y="1417320"/>
            <a:ext cx="246888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79" y="1581912"/>
            <a:ext cx="219456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600" b="1">
                <a:solidFill>
                  <a:srgbClr val="2A5C91"/>
                </a:solidFill>
              </a:rPr>
              <a:t>18</a:t>
            </a:r>
            <a:endParaRPr sz="2600" b="1">
              <a:solidFill>
                <a:srgbClr val="2A5C91"/>
              </a:solidFill>
            </a:endParaRPr>
          </a:p>
          <a:p>
            <a:pPr algn="ctr"/>
            <a:r>
              <a:rPr sz="1100">
                <a:solidFill>
                  <a:srgbClr val="5F6C7A"/>
                </a:solidFill>
              </a:rPr>
              <a:t>columns</a:t>
            </a:r>
            <a:endParaRPr sz="1100">
              <a:solidFill>
                <a:srgbClr val="5F6C7A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246888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581912"/>
            <a:ext cx="219456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600" b="1">
                <a:solidFill>
                  <a:srgbClr val="2A5C91"/>
                </a:solidFill>
              </a:rPr>
              <a:t>0</a:t>
            </a:r>
            <a:endParaRPr sz="2600" b="1">
              <a:solidFill>
                <a:srgbClr val="2A5C91"/>
              </a:solidFill>
            </a:endParaRPr>
          </a:p>
          <a:p>
            <a:pPr algn="ctr"/>
            <a:r>
              <a:rPr sz="1100">
                <a:solidFill>
                  <a:srgbClr val="5F6C7A"/>
                </a:solidFill>
              </a:rPr>
              <a:t>duplicates found</a:t>
            </a:r>
            <a:endParaRPr sz="1100">
              <a:solidFill>
                <a:srgbClr val="5F6C7A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961120" y="1417320"/>
            <a:ext cx="246888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1581912"/>
            <a:ext cx="219456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600" b="1">
                <a:solidFill>
                  <a:srgbClr val="2A5C91"/>
                </a:solidFill>
              </a:rPr>
              <a:t>18</a:t>
            </a:r>
            <a:endParaRPr sz="2600" b="1">
              <a:solidFill>
                <a:srgbClr val="2A5C91"/>
              </a:solidFill>
            </a:endParaRPr>
          </a:p>
          <a:p>
            <a:pPr algn="ctr"/>
            <a:r>
              <a:rPr sz="1100">
                <a:solidFill>
                  <a:srgbClr val="5F6C7A"/>
                </a:solidFill>
              </a:rPr>
              <a:t>variables inspected</a:t>
            </a:r>
            <a:endParaRPr sz="1100">
              <a:solidFill>
                <a:srgbClr val="5F6C7A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14400" y="306324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A32"/>
                </a:solidFill>
              </a:defRPr>
            </a:pPr>
            <a:r>
              <a:t>• Loaded shopping_trends.csv with Pandas.</a:t>
            </a:r>
          </a:p>
          <a:p>
            <a:pPr>
              <a:spcAft>
                <a:spcPts val="1000"/>
              </a:spcAft>
              <a:defRPr sz="1800">
                <a:solidFill>
                  <a:srgbClr val="232A32"/>
                </a:solidFill>
              </a:defRPr>
            </a:pPr>
            <a:r>
              <a:t>• Inspected first and last five records.</a:t>
            </a:r>
          </a:p>
          <a:p>
            <a:pPr>
              <a:spcAft>
                <a:spcPts val="1000"/>
              </a:spcAft>
              <a:defRPr sz="1800">
                <a:solidFill>
                  <a:srgbClr val="232A32"/>
                </a:solidFill>
              </a:defRPr>
            </a:pPr>
            <a:r>
              <a:t>• Checked dimensions, column names and data types.</a:t>
            </a:r>
          </a:p>
          <a:p>
            <a:pPr>
              <a:spcAft>
                <a:spcPts val="1000"/>
              </a:spcAft>
              <a:defRPr sz="1800">
                <a:solidFill>
                  <a:srgbClr val="232A32"/>
                </a:solidFill>
              </a:defRPr>
            </a:pPr>
            <a:r>
              <a:t>• Checked missing values and duplicate records.</a:t>
            </a:r>
          </a:p>
          <a:p>
            <a:pPr>
              <a:spcAft>
                <a:spcPts val="1000"/>
              </a:spcAft>
              <a:defRPr sz="1800">
                <a:solidFill>
                  <a:srgbClr val="232A32"/>
                </a:solidFill>
              </a:defRPr>
            </a:pPr>
            <a:r>
              <a:t>• Generated descriptive statistics before analysis.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0" y="6510528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C7A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A"/>
                </a:solidFill>
              </a:defRPr>
            </a:pPr>
            <a:r>
              <a:t>Data Cleaning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C7A"/>
                </a:solidFill>
              </a:defRPr>
            </a:pPr>
            <a:r>
              <a:t>Preparing the dataset for reliable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A32"/>
                </a:solidFill>
              </a:defRPr>
            </a:pPr>
            <a:r>
              <a:t>• Removed duplicate records.</a:t>
            </a:r>
          </a:p>
          <a:p>
            <a:pPr>
              <a:spcAft>
                <a:spcPts val="1000"/>
              </a:spcAft>
              <a:defRPr sz="1800">
                <a:solidFill>
                  <a:srgbClr val="232A32"/>
                </a:solidFill>
              </a:defRPr>
            </a:pPr>
            <a:r>
              <a:t>• Handled missing values by removing incomplete rows.</a:t>
            </a:r>
          </a:p>
          <a:p>
            <a:pPr>
              <a:spcAft>
                <a:spcPts val="1000"/>
              </a:spcAft>
              <a:defRPr sz="1800">
                <a:solidFill>
                  <a:srgbClr val="232A32"/>
                </a:solidFill>
              </a:defRPr>
            </a:pPr>
            <a:r>
              <a:t>• Standardized gender entries by stripping spaces and converting to uppercase.</a:t>
            </a:r>
          </a:p>
          <a:p>
            <a:pPr>
              <a:spcAft>
                <a:spcPts val="1000"/>
              </a:spcAft>
              <a:defRPr sz="1800">
                <a:solidFill>
                  <a:srgbClr val="232A32"/>
                </a:solidFill>
              </a:defRPr>
            </a:pPr>
            <a:r>
              <a:t>• Standardized location values by removing unnecessary spaces.</a:t>
            </a:r>
          </a:p>
          <a:p>
            <a:pPr>
              <a:spcAft>
                <a:spcPts val="1000"/>
              </a:spcAft>
              <a:defRPr sz="1800">
                <a:solidFill>
                  <a:srgbClr val="232A32"/>
                </a:solidFill>
              </a:defRPr>
            </a:pPr>
            <a:r>
              <a:t>• Converted purchase amount and review ratings to numeric formats.</a:t>
            </a:r>
          </a:p>
          <a:p>
            <a:pPr>
              <a:spcAft>
                <a:spcPts val="1000"/>
              </a:spcAft>
              <a:defRPr sz="1800">
                <a:solidFill>
                  <a:srgbClr val="232A32"/>
                </a:solidFill>
              </a:defRPr>
            </a:pPr>
            <a:r>
              <a:t>• Filtered ages to retain realistic adult customer ages (18–100).</a:t>
            </a:r>
          </a:p>
          <a:p>
            <a:pPr>
              <a:spcAft>
                <a:spcPts val="1000"/>
              </a:spcAft>
              <a:defRPr sz="1800">
                <a:solidFill>
                  <a:srgbClr val="232A32"/>
                </a:solidFill>
              </a:defRPr>
            </a:pPr>
            <a:r>
              <a:t>• Performed a final dataset information check.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510528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C7A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A"/>
                </a:solidFill>
              </a:defRPr>
            </a:pPr>
            <a:r>
              <a:t>EDA: Customer Profile &amp; Satisfaction</a:t>
            </a:r>
          </a:p>
        </p:txBody>
      </p:sp>
      <p:pic>
        <p:nvPicPr>
          <p:cNvPr id="4" name="Picture 3" descr="eda_chart_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34440"/>
            <a:ext cx="347472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571500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2233A"/>
                </a:solidFill>
              </a:defRPr>
            </a:pPr>
            <a:r>
              <a:t>Customer Age Distribution</a:t>
            </a:r>
          </a:p>
        </p:txBody>
      </p:sp>
      <p:pic>
        <p:nvPicPr>
          <p:cNvPr id="6" name="Picture 5" descr="eda_chart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1234440"/>
            <a:ext cx="347472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069080" y="571500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2233A"/>
                </a:solidFill>
              </a:defRPr>
            </a:pPr>
            <a:r>
              <a:t>Customer Satisfaction Ratings</a:t>
            </a:r>
          </a:p>
        </p:txBody>
      </p:sp>
      <p:pic>
        <p:nvPicPr>
          <p:cNvPr id="8" name="Picture 7" descr="eda_chart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79" y="1234440"/>
            <a:ext cx="3474720" cy="4389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26679" y="571500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2233A"/>
                </a:solidFill>
              </a:defRPr>
            </a:pPr>
            <a:r>
              <a:t>Average Spending by Gender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0" y="6510528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C7A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A"/>
                </a:solidFill>
              </a:defRPr>
            </a:pPr>
            <a:r>
              <a:t>EDA: Purchasing &amp; Customer Distribution</a:t>
            </a:r>
          </a:p>
        </p:txBody>
      </p:sp>
      <p:pic>
        <p:nvPicPr>
          <p:cNvPr id="4" name="Picture 3" descr="eda_chart_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34440"/>
            <a:ext cx="347472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571500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2233A"/>
                </a:solidFill>
              </a:defRPr>
            </a:pPr>
          </a:p>
        </p:txBody>
      </p:sp>
      <p:pic>
        <p:nvPicPr>
          <p:cNvPr id="6" name="Picture 5" descr="eda_chart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1234440"/>
            <a:ext cx="347472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069080" y="571500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2233A"/>
                </a:solidFill>
              </a:defRPr>
            </a:pPr>
          </a:p>
        </p:txBody>
      </p:sp>
      <p:pic>
        <p:nvPicPr>
          <p:cNvPr id="8" name="Picture 7" descr="eda_chart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79" y="1234440"/>
            <a:ext cx="3474720" cy="4389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26679" y="571500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2233A"/>
                </a:solidFill>
              </a:defRPr>
            </a:pPr>
          </a:p>
        </p:txBody>
      </p:sp>
      <p:sp>
        <p:nvSpPr>
          <p:cNvPr id="10" name="Rectangle 9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0" y="6510528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C7A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A"/>
                </a:solidFill>
              </a:defRPr>
            </a:pPr>
            <a:r>
              <a:t>EDA: Relationships, Loyalty &amp; Product Demand</a:t>
            </a:r>
          </a:p>
        </p:txBody>
      </p:sp>
      <p:pic>
        <p:nvPicPr>
          <p:cNvPr id="4" name="Picture 3" descr="eda_chart_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34440"/>
            <a:ext cx="347472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571500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2233A"/>
                </a:solidFill>
              </a:defRPr>
            </a:pPr>
          </a:p>
        </p:txBody>
      </p:sp>
      <p:pic>
        <p:nvPicPr>
          <p:cNvPr id="6" name="Picture 5" descr="eda_chart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1234440"/>
            <a:ext cx="347472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069080" y="571500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2233A"/>
                </a:solidFill>
              </a:defRPr>
            </a:pPr>
          </a:p>
        </p:txBody>
      </p:sp>
      <p:pic>
        <p:nvPicPr>
          <p:cNvPr id="8" name="Picture 7" descr="eda_chart_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79" y="1234440"/>
            <a:ext cx="3474720" cy="4389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26679" y="571500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2233A"/>
                </a:solidFill>
              </a:defRPr>
            </a:pPr>
          </a:p>
        </p:txBody>
      </p:sp>
      <p:sp>
        <p:nvSpPr>
          <p:cNvPr id="10" name="Rectangle 9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0" y="6510528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C7A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A"/>
                </a:solidFill>
              </a:defRPr>
            </a:pPr>
            <a:r>
              <a:t>Business Insights &amp;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C7A"/>
                </a:solidFill>
              </a:defRPr>
            </a:pPr>
            <a:r>
              <a:t>What the analysis allows the business to investigate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7040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A32"/>
                </a:solidFill>
              </a:defRPr>
            </a:pPr>
            <a:r>
              <a:t>• Customer targeting: use purchasing activity and demographic patterns to identify valuable groups.</a:t>
            </a:r>
          </a:p>
          <a:p>
            <a:pPr>
              <a:spcAft>
                <a:spcPts val="1000"/>
              </a:spcAft>
              <a:defRPr sz="1600">
                <a:solidFill>
                  <a:srgbClr val="232A32"/>
                </a:solidFill>
              </a:defRPr>
            </a:pPr>
            <a:r>
              <a:t>• Satisfaction: review ratings provide a direct measure of customer satisfaction.</a:t>
            </a:r>
          </a:p>
          <a:p>
            <a:pPr>
              <a:spcAft>
                <a:spcPts val="1000"/>
              </a:spcAft>
              <a:defRPr sz="1600">
                <a:solidFill>
                  <a:srgbClr val="232A32"/>
                </a:solidFill>
              </a:defRPr>
            </a:pPr>
            <a:r>
              <a:t>• Loyalty: subscription status, purchase frequency and previous purchases are useful loyalty indicators.</a:t>
            </a:r>
          </a:p>
          <a:p>
            <a:pPr>
              <a:spcAft>
                <a:spcPts val="1000"/>
              </a:spcAft>
              <a:defRPr sz="1600">
                <a:solidFill>
                  <a:srgbClr val="232A32"/>
                </a:solidFill>
              </a:defRPr>
            </a:pPr>
            <a:r>
              <a:t>• Age and spending: the scatter plot helps assess whether spending varies across age groups.</a:t>
            </a:r>
          </a:p>
          <a:p>
            <a:pPr>
              <a:spcAft>
                <a:spcPts val="1000"/>
              </a:spcAft>
              <a:defRPr sz="1600">
                <a:solidFill>
                  <a:srgbClr val="232A32"/>
                </a:solidFill>
              </a:defRPr>
            </a:pPr>
            <a:r>
              <a:t>• Payment preference: payment-method distribution can guide customer convenience and checkout priorities.</a:t>
            </a:r>
          </a:p>
          <a:p>
            <a:pPr>
              <a:spcAft>
                <a:spcPts val="1000"/>
              </a:spcAft>
              <a:defRPr sz="1600">
                <a:solidFill>
                  <a:srgbClr val="232A32"/>
                </a:solidFill>
              </a:defRPr>
            </a:pPr>
            <a:r>
              <a:t>• Product demand: category frequency highlights where customer demand is concentrated.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0" y="1417320"/>
            <a:ext cx="3429000" cy="4343400"/>
          </a:xfrm>
          <a:prstGeom prst="roundRect">
            <a:avLst/>
          </a:prstGeom>
          <a:solidFill>
            <a:srgbClr val="F2F6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737360"/>
            <a:ext cx="3028950" cy="33381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2233A"/>
                </a:solidFill>
              </a:defRPr>
            </a:pPr>
            <a:r>
              <a:t>Important dataset limitation</a:t>
            </a:r>
          </a:p>
          <a:p>
            <a:pPr>
              <a:spcBef>
                <a:spcPts val="1200"/>
              </a:spcBef>
              <a:defRPr sz="1400">
                <a:solidFill>
                  <a:srgbClr val="232A32"/>
                </a:solidFill>
              </a:defRPr>
            </a:pPr>
            <a:r>
              <a:t>• The selected dataset does not </a:t>
            </a:r>
          </a:p>
          <a:p>
            <a:pPr>
              <a:spcBef>
                <a:spcPts val="1200"/>
              </a:spcBef>
              <a:defRPr sz="1400">
                <a:solidFill>
                  <a:srgbClr val="232A32"/>
                </a:solidFill>
              </a:defRPr>
            </a:pPr>
            <a:r>
              <a:t>contain income, annual spending,</a:t>
            </a:r>
          </a:p>
          <a:p>
            <a:pPr>
              <a:spcBef>
                <a:spcPts val="1200"/>
              </a:spcBef>
              <a:defRPr sz="1400">
                <a:solidFill>
                  <a:srgbClr val="232A32"/>
                </a:solidFill>
              </a:defRPr>
            </a:pPr>
            <a:r>
              <a:t> communication</a:t>
            </a:r>
            <a:r>
              <a:rPr lang="en-US"/>
              <a:t> </a:t>
            </a:r>
            <a:r>
              <a:t>channel, or a </a:t>
            </a:r>
          </a:p>
          <a:p>
            <a:pPr>
              <a:spcBef>
                <a:spcPts val="1200"/>
              </a:spcBef>
              <a:defRPr sz="1400">
                <a:solidFill>
                  <a:srgbClr val="232A32"/>
                </a:solidFill>
              </a:defRPr>
            </a:pPr>
            <a:r>
              <a:t>direct retention-rate field.</a:t>
            </a:r>
          </a:p>
          <a:p>
            <a:pPr>
              <a:spcBef>
                <a:spcPts val="1200"/>
              </a:spcBef>
              <a:defRPr sz="1400">
                <a:solidFill>
                  <a:srgbClr val="232A32"/>
                </a:solidFill>
              </a:defRPr>
            </a:pPr>
          </a:p>
          <a:p>
            <a:pPr>
              <a:spcBef>
                <a:spcPts val="1200"/>
              </a:spcBef>
              <a:defRPr sz="1400">
                <a:solidFill>
                  <a:srgbClr val="232A32"/>
                </a:solidFill>
              </a:defRPr>
            </a:pPr>
            <a:r>
              <a:t>• Therefore, those parts of the original</a:t>
            </a:r>
          </a:p>
          <a:p>
            <a:pPr>
              <a:spcBef>
                <a:spcPts val="1200"/>
              </a:spcBef>
              <a:defRPr sz="1400">
                <a:solidFill>
                  <a:srgbClr val="232A32"/>
                </a:solidFill>
              </a:defRPr>
            </a:pPr>
            <a:r>
              <a:t> brief were adapted using available </a:t>
            </a:r>
          </a:p>
          <a:p>
            <a:pPr>
              <a:spcBef>
                <a:spcPts val="1200"/>
              </a:spcBef>
              <a:defRPr sz="1400">
                <a:solidFill>
                  <a:srgbClr val="232A32"/>
                </a:solidFill>
              </a:defRPr>
            </a:pPr>
            <a:r>
              <a:t>variables rather than inventing data.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0" y="6510528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C7A"/>
                </a:solidFill>
              </a:defRPr>
            </a:pPr>
            <a:r>
              <a:t>8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12438380" y="45313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A"/>
                </a:solidFill>
              </a:defRPr>
            </a:pPr>
            <a:r>
              <a:t>Business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C7A"/>
                </a:solidFill>
              </a:defRPr>
            </a:pPr>
            <a:r>
              <a:t>Five actions based on the analysis framework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325880"/>
            <a:ext cx="502920" cy="502920"/>
          </a:xfrm>
          <a:prstGeom prst="ellipse">
            <a:avLst/>
          </a:prstGeom>
          <a:solidFill>
            <a:srgbClr val="2A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8988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307592"/>
            <a:ext cx="98755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233A"/>
                </a:solidFill>
              </a:defRPr>
            </a:pPr>
            <a:r>
              <a:t>Target high-value customers</a:t>
            </a:r>
          </a:p>
          <a:p>
            <a:pPr>
              <a:defRPr sz="1300">
                <a:solidFill>
                  <a:srgbClr val="232A32"/>
                </a:solidFill>
              </a:defRPr>
            </a:pPr>
            <a:r>
              <a:t>Use purchasing activity to identify valuable customer groups and offer personalized promotions.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286000"/>
            <a:ext cx="502920" cy="502920"/>
          </a:xfrm>
          <a:prstGeom prst="ellipse">
            <a:avLst/>
          </a:prstGeom>
          <a:solidFill>
            <a:srgbClr val="2A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35000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267712"/>
            <a:ext cx="98755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233A"/>
                </a:solidFill>
              </a:defRPr>
            </a:pPr>
            <a:r>
              <a:t>Strengthen loyalty programs</a:t>
            </a:r>
          </a:p>
          <a:p>
            <a:pPr>
              <a:defRPr sz="1300">
                <a:solidFill>
                  <a:srgbClr val="232A32"/>
                </a:solidFill>
              </a:defRPr>
            </a:pPr>
            <a:r>
              <a:t>Reward frequent purchasers and active subscribers with points, cashback or exclusive offers.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246120"/>
            <a:ext cx="502920" cy="502920"/>
          </a:xfrm>
          <a:prstGeom prst="ellipse">
            <a:avLst/>
          </a:prstGeom>
          <a:solidFill>
            <a:srgbClr val="2A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310127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227832"/>
            <a:ext cx="98755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233A"/>
                </a:solidFill>
              </a:defRPr>
            </a:pPr>
            <a:r>
              <a:t>Improve customer satisfaction</a:t>
            </a:r>
          </a:p>
          <a:p>
            <a:pPr>
              <a:defRPr sz="1300">
                <a:solidFill>
                  <a:srgbClr val="232A32"/>
                </a:solidFill>
              </a:defRPr>
            </a:pPr>
            <a:r>
              <a:t>Monitor review ratings and address recurring customer concerns promptly.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206240"/>
            <a:ext cx="502920" cy="502920"/>
          </a:xfrm>
          <a:prstGeom prst="ellipse">
            <a:avLst/>
          </a:prstGeom>
          <a:solidFill>
            <a:srgbClr val="2A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27024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187952"/>
            <a:ext cx="98755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233A"/>
                </a:solidFill>
              </a:defRPr>
            </a:pPr>
            <a:r>
              <a:t>Personalize marketing</a:t>
            </a:r>
          </a:p>
          <a:p>
            <a:pPr>
              <a:defRPr sz="1300">
                <a:solidFill>
                  <a:srgbClr val="232A32"/>
                </a:solidFill>
              </a:defRPr>
            </a:pPr>
            <a:r>
              <a:t>Tailor campaigns to age, location and shopping preferences to improve engagement.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5166359"/>
            <a:ext cx="502920" cy="502920"/>
          </a:xfrm>
          <a:prstGeom prst="ellipse">
            <a:avLst/>
          </a:prstGeom>
          <a:solidFill>
            <a:srgbClr val="2A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230368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5148072"/>
            <a:ext cx="98755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233A"/>
                </a:solidFill>
              </a:defRPr>
            </a:pPr>
            <a:r>
              <a:t>Use analytics continuously</a:t>
            </a:r>
          </a:p>
          <a:p>
            <a:pPr>
              <a:defRPr sz="1300">
                <a:solidFill>
                  <a:srgbClr val="232A32"/>
                </a:solidFill>
              </a:defRPr>
            </a:pPr>
            <a:r>
              <a:t>Regularly monitor purchasing behaviour and shopping trends to support better decisions.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98480" y="6510528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C7A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0515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1024128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FFFFFF"/>
                </a:solidFill>
              </a:defRPr>
            </a:pPr>
            <a:r>
              <a:t>The project demonstrates a complete analytics workflow:</a:t>
            </a:r>
          </a:p>
          <a:p>
            <a:pPr>
              <a:spcBef>
                <a:spcPts val="1000"/>
              </a:spcBef>
              <a:defRPr sz="1900">
                <a:solidFill>
                  <a:srgbClr val="D7E6F2"/>
                </a:solidFill>
              </a:defRPr>
            </a:pPr>
            <a:r>
              <a:t>• Inspect the data</a:t>
            </a:r>
          </a:p>
          <a:p>
            <a:pPr>
              <a:spcBef>
                <a:spcPts val="1000"/>
              </a:spcBef>
              <a:defRPr sz="1900">
                <a:solidFill>
                  <a:srgbClr val="D7E6F2"/>
                </a:solidFill>
              </a:defRPr>
            </a:pPr>
            <a:r>
              <a:t>• Clean and validate the data</a:t>
            </a:r>
          </a:p>
          <a:p>
            <a:pPr>
              <a:spcBef>
                <a:spcPts val="1000"/>
              </a:spcBef>
              <a:defRPr sz="1900">
                <a:solidFill>
                  <a:srgbClr val="D7E6F2"/>
                </a:solidFill>
              </a:defRPr>
            </a:pPr>
            <a:r>
              <a:t>• Explore customer behaviour</a:t>
            </a:r>
          </a:p>
          <a:p>
            <a:pPr>
              <a:spcBef>
                <a:spcPts val="1000"/>
              </a:spcBef>
              <a:defRPr sz="1900">
                <a:solidFill>
                  <a:srgbClr val="D7E6F2"/>
                </a:solidFill>
              </a:defRPr>
            </a:pPr>
            <a:r>
              <a:t>• Translate patterns into business insights</a:t>
            </a:r>
          </a:p>
          <a:p>
            <a:pPr>
              <a:spcBef>
                <a:spcPts val="1000"/>
              </a:spcBef>
              <a:defRPr sz="1900">
                <a:solidFill>
                  <a:srgbClr val="D7E6F2"/>
                </a:solidFill>
              </a:defRPr>
            </a:pPr>
            <a:r>
              <a:t>• Recommend practical 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510528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C7A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ext Box 6"/>
          <p:cNvSpPr txBox="1"/>
          <p:nvPr/>
        </p:nvSpPr>
        <p:spPr>
          <a:xfrm>
            <a:off x="0" y="2368550"/>
            <a:ext cx="12192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4000" b="1">
                <a:latin typeface="Algerian" panose="04020705040A02060702" charset="0"/>
                <a:cs typeface="Algerian" panose="04020705040A02060702" charset="0"/>
              </a:rPr>
              <a:t>THANK YOU FOR LISTENING</a:t>
            </a:r>
            <a:endParaRPr lang="en-US" sz="4000" b="1">
              <a:latin typeface="Algerian" panose="04020705040A02060702" charset="0"/>
              <a:cs typeface="Algerian" panose="04020705040A02060702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3397</Words>
  <Application>WPS Presentation</Application>
  <PresentationFormat>On-screen Show (4:3)</PresentationFormat>
  <Paragraphs>142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Times New Roman</vt:lpstr>
      <vt:lpstr>Algerian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Francis Chukwunonyere</cp:lastModifiedBy>
  <cp:revision>3</cp:revision>
  <dcterms:created xsi:type="dcterms:W3CDTF">2013-01-27T09:14:00Z</dcterms:created>
  <dcterms:modified xsi:type="dcterms:W3CDTF">2026-08-03T06:25:21Z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A54DC40EC75B4DFD867A44CD4CA0EDED_12</vt:lpwstr>
  </property>
  <property fmtid="{D5CDD505-2E9C-101B-9397-08002B2CF9AE}" pid="3" name="KSOProductBuildVer">
    <vt:lpwstr>1033-12.1.0.28032</vt:lpwstr>
  </property>
</Properties>
</file>