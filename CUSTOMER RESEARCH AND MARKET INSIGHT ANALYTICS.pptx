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9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4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6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340" y="733425"/>
            <a:ext cx="9799320" cy="1405890"/>
          </a:xfrm>
        </p:spPr>
        <p:txBody>
          <a:bodyPr/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CUSTOMER RESEARCH AND MARKET INSIGHT ANALYTICS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3182620"/>
            <a:ext cx="9799320" cy="1923415"/>
          </a:xfrm>
        </p:spPr>
        <p:txBody>
          <a:bodyPr>
            <a:noAutofit/>
          </a:bodyPr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CUSTOMER SHOPPING TRENDS ANALYSIS USING PYTHON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PRESENTED BY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FRANCIS NZUBECHUKWU CHUKWUNONYERE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PROJECT OVERVIEW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Analyze customer shopping data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Understand customer behaviour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Identify purchasing patterns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Generate business insights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Recommend business strategies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8330" y="-635"/>
            <a:ext cx="10968990" cy="627380"/>
          </a:xfrm>
        </p:spPr>
        <p:txBody>
          <a:bodyPr>
            <a:normAutofit/>
          </a:bodyPr>
          <a:p>
            <a:r>
              <a:rPr lang="en-US" sz="2000" b="1">
                <a:latin typeface="Times New Roman" panose="02020603050405020304" charset="0"/>
                <a:cs typeface="Times New Roman" panose="02020603050405020304" charset="0"/>
              </a:rPr>
              <a:t>DATASET OVERVIEW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08330" y="510540"/>
            <a:ext cx="10968990" cy="63474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Dataset: shopping_trends.csv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Variables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Age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Gender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Location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Category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Purchase Amount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Review Rating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Payment Method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Subscription Status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Tools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Pandas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NumPy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Matplotlib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1300" b="1">
                <a:latin typeface="Times New Roman" panose="02020603050405020304" charset="0"/>
                <a:cs typeface="Times New Roman" panose="02020603050405020304" charset="0"/>
              </a:rPr>
              <a:t>Seaborn</a:t>
            </a:r>
            <a:endParaRPr lang="en-US" altLang="en-US" sz="13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8330" y="0"/>
            <a:ext cx="10968990" cy="929640"/>
          </a:xfrm>
        </p:spPr>
        <p:txBody>
          <a:bodyPr/>
          <a:p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DATA INSPECTION</a:t>
            </a:r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08330" y="1180465"/>
            <a:ext cx="10968990" cy="567817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Loaded the dataset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Checked dataset dimensions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Reviewed data types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Identified missing values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Checked duplicates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Generated summary statistics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330" y="0"/>
            <a:ext cx="10968990" cy="6858000"/>
          </a:xfrm>
        </p:spPr>
        <p:txBody>
          <a:bodyPr/>
          <a:p>
            <a:pPr marL="0" indent="0">
              <a:buNone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335" y="297815"/>
            <a:ext cx="8622665" cy="58762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778885" y="6308640"/>
            <a:ext cx="4064000" cy="39878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2000" b="1" i="1">
                <a:latin typeface="Times New Roman" panose="02020603050405020304" charset="0"/>
                <a:ea typeface="Microsoft YaHei" panose="020B0503020204020204" charset="-122"/>
                <a:cs typeface="Times New Roman" panose="02020603050405020304" charset="0"/>
              </a:rPr>
              <a:t>Fig 1: Preview of the cleaned dataset</a:t>
            </a:r>
            <a:endParaRPr lang="en-US" sz="2000" b="1" i="1">
              <a:latin typeface="Times New Roman" panose="02020603050405020304" charset="0"/>
              <a:ea typeface="Microsoft YaHei" panose="020B0503020204020204" charset="-122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8330" y="105410"/>
            <a:ext cx="10968990" cy="1041400"/>
          </a:xfrm>
        </p:spPr>
        <p:txBody>
          <a:bodyPr/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DATA CLEANING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Font typeface="Wingdings" panose="05000000000000000000" charset="0"/>
              <a:buChar char="ü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Removed duplicates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Removed missing values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Standardized gender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Standardized locations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Converted data types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Removed unrealistic ages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8330" y="146685"/>
            <a:ext cx="10968990" cy="740410"/>
          </a:xfrm>
        </p:spPr>
        <p:txBody>
          <a:bodyPr>
            <a:normAutofit/>
          </a:bodyPr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EXPLORATORY DATA ANALYSIS (EDA)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VISUALIZATIONS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Age Distribution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Review Ratings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Average Spending by Gender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15" y="222885"/>
            <a:ext cx="5071110" cy="28289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224915" y="3176820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b="1" i="1">
                <a:latin typeface="Arial" panose="020B0604020202020204" pitchFamily="34" charset="0"/>
                <a:ea typeface="Microsoft YaHei" panose="020B0503020204020204" charset="-122"/>
              </a:rPr>
              <a:t>Fig 2: Customer age distribution</a:t>
            </a:r>
            <a:endParaRPr lang="en-US" b="1" i="1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490" y="223520"/>
            <a:ext cx="5172710" cy="28289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296150" y="3148880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b="1" i="1">
                <a:latin typeface="Times New Roman" panose="02020603050405020304" charset="0"/>
                <a:ea typeface="Microsoft YaHei" panose="020B0503020204020204" charset="-122"/>
                <a:cs typeface="Times New Roman" panose="02020603050405020304" charset="0"/>
              </a:rPr>
              <a:t>Fig 3: Customer satisfaction ratings</a:t>
            </a:r>
            <a:endParaRPr lang="en-US" b="1" i="1">
              <a:latin typeface="Times New Roman" panose="02020603050405020304" charset="0"/>
              <a:ea typeface="Microsoft YaHei" panose="020B0503020204020204" charset="-122"/>
              <a:cs typeface="Times New Roman" panose="020206030504050203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645" y="3667760"/>
            <a:ext cx="5934075" cy="257619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807460" y="639436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1800" b="1" i="1">
                <a:latin typeface="Times New Roman" panose="02020603050405020304" charset="0"/>
                <a:ea typeface="Microsoft YaHei" panose="020B0503020204020204" charset="-122"/>
                <a:cs typeface="Times New Roman" panose="02020603050405020304" charset="0"/>
              </a:rPr>
              <a:t>Fig 4: Average spending by gender</a:t>
            </a:r>
            <a:endParaRPr lang="en-US" sz="1800" b="1" i="1">
              <a:latin typeface="Times New Roman" panose="02020603050405020304" charset="0"/>
              <a:ea typeface="Microsoft YaHei" panose="020B0503020204020204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8330" y="0"/>
            <a:ext cx="10968990" cy="1125220"/>
          </a:xfrm>
        </p:spPr>
        <p:txBody>
          <a:bodyPr>
            <a:normAutofit/>
          </a:bodyPr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CUSTOMER BEHAVIOUR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VISUALIZATIONS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400" b="1"/>
              <a:t>Age vs Purchase Amount</a:t>
            </a:r>
            <a:endParaRPr lang="en-US" altLang="en-US" sz="2400" b="1"/>
          </a:p>
          <a:p>
            <a:pPr>
              <a:buFont typeface="Wingdings" panose="05000000000000000000" charset="0"/>
              <a:buChar char="v"/>
            </a:pPr>
            <a:r>
              <a:rPr lang="en-US" altLang="en-US" sz="2400" b="1"/>
              <a:t>Customers by Location</a:t>
            </a:r>
            <a:endParaRPr lang="en-US" altLang="en-US" sz="2400" b="1"/>
          </a:p>
          <a:p>
            <a:pPr>
              <a:buFont typeface="Wingdings" panose="05000000000000000000" charset="0"/>
              <a:buChar char="v"/>
            </a:pPr>
            <a:r>
              <a:rPr lang="en-US" altLang="en-US" sz="2400" b="1"/>
              <a:t>Payment Method</a:t>
            </a:r>
            <a:endParaRPr lang="en-US" altLang="en-US" sz="2400" b="1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40" y="160020"/>
            <a:ext cx="5740400" cy="28930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57605" y="3245400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b="1" i="1">
                <a:latin typeface="Times New Roman" panose="02020603050405020304" charset="0"/>
                <a:ea typeface="Microsoft YaHei" panose="020B0503020204020204" charset="-122"/>
                <a:cs typeface="Times New Roman" panose="02020603050405020304" charset="0"/>
              </a:rPr>
              <a:t>Fig 5: Customer distribution by location</a:t>
            </a:r>
            <a:endParaRPr lang="en-US" b="1" i="1">
              <a:latin typeface="Times New Roman" panose="02020603050405020304" charset="0"/>
              <a:ea typeface="Microsoft YaHei" panose="020B0503020204020204" charset="-122"/>
              <a:cs typeface="Times New Roman" panose="020206030504050203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0020"/>
            <a:ext cx="5226685" cy="289369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261860" y="3245400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1800" b="1" i="1">
                <a:latin typeface="Times New Roman" panose="02020603050405020304" charset="0"/>
                <a:ea typeface="Microsoft YaHei" panose="020B0503020204020204" charset="-122"/>
                <a:cs typeface="Times New Roman" panose="02020603050405020304" charset="0"/>
              </a:rPr>
              <a:t>Fig 6: Preferred payment method</a:t>
            </a:r>
            <a:endParaRPr lang="en-US" sz="1800" b="1" i="1">
              <a:latin typeface="Times New Roman" panose="02020603050405020304" charset="0"/>
              <a:ea typeface="Microsoft YaHei" panose="020B0503020204020204" charset="-122"/>
              <a:cs typeface="Times New Roman" panose="020206030504050203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10" y="3708400"/>
            <a:ext cx="6944360" cy="256095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3961765" y="6363885"/>
            <a:ext cx="406400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1800" b="1" i="1">
                <a:latin typeface="Times New Roman" panose="02020603050405020304" charset="0"/>
                <a:ea typeface="Microsoft YaHei" panose="020B0503020204020204" charset="-122"/>
                <a:cs typeface="Times New Roman" panose="02020603050405020304" charset="0"/>
              </a:rPr>
              <a:t>Fig 7: Age VS. Purchase Amount</a:t>
            </a:r>
            <a:endParaRPr lang="en-US" sz="1800" b="1" i="1">
              <a:latin typeface="Times New Roman" panose="02020603050405020304" charset="0"/>
              <a:ea typeface="Microsoft YaHei" panose="020B0503020204020204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8330" y="198120"/>
            <a:ext cx="10968990" cy="1030605"/>
          </a:xfrm>
        </p:spPr>
        <p:txBody>
          <a:bodyPr/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ADDITIONAL ANALYSIS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VISUALIZATIONS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Correlation Heatmap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Subscription Status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Product Categories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895" y="0"/>
            <a:ext cx="4961255" cy="30791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45565" y="3176820"/>
            <a:ext cx="4064000" cy="52197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1400" b="1" i="1">
                <a:latin typeface="Times New Roman" panose="02020603050405020304" charset="0"/>
                <a:ea typeface="Microsoft YaHei" panose="020B0503020204020204" charset="-122"/>
                <a:cs typeface="Times New Roman" panose="02020603050405020304" charset="0"/>
              </a:rPr>
              <a:t>Fig 8: </a:t>
            </a:r>
            <a:r>
              <a:rPr lang="en-US" altLang="en-US" sz="1400" b="1" i="1">
                <a:latin typeface="Times New Roman" panose="02020603050405020304" charset="0"/>
                <a:ea typeface="Microsoft YaHei" panose="020B0503020204020204" charset="-122"/>
                <a:cs typeface="Times New Roman" panose="02020603050405020304" charset="0"/>
              </a:rPr>
              <a:t>Correlation Heatmap of Numerical Variables</a:t>
            </a:r>
            <a:endParaRPr lang="en-US" altLang="en-US" sz="1400" b="1" i="1">
              <a:latin typeface="Times New Roman" panose="02020603050405020304" charset="0"/>
              <a:ea typeface="Microsoft YaHei" panose="020B0503020204020204" charset="-122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870" y="0"/>
            <a:ext cx="5290820" cy="307911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364095" y="3176820"/>
            <a:ext cx="4064000" cy="33718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1600" b="1" i="1">
                <a:latin typeface="Times New Roman" panose="02020603050405020304" charset="0"/>
                <a:ea typeface="Microsoft YaHei" panose="020B0503020204020204" charset="-122"/>
                <a:cs typeface="Times New Roman" panose="02020603050405020304" charset="0"/>
              </a:rPr>
              <a:t>Fig 9: </a:t>
            </a:r>
            <a:r>
              <a:rPr lang="en-US" altLang="en-US" sz="1600" b="1" i="1">
                <a:latin typeface="Times New Roman" panose="02020603050405020304" charset="0"/>
                <a:ea typeface="Microsoft YaHei" panose="020B0503020204020204" charset="-122"/>
                <a:cs typeface="Times New Roman" panose="02020603050405020304" charset="0"/>
              </a:rPr>
              <a:t>Customer Subscription Status</a:t>
            </a:r>
            <a:endParaRPr lang="en-US" altLang="en-US" sz="1600" b="1" i="1">
              <a:latin typeface="Times New Roman" panose="02020603050405020304" charset="0"/>
              <a:ea typeface="Microsoft YaHei" panose="020B0503020204020204" charset="-122"/>
              <a:cs typeface="Times New Roman" panose="020206030504050203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995" y="3640455"/>
            <a:ext cx="8715375" cy="264731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926840" y="6385475"/>
            <a:ext cx="4064000" cy="33718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1600" b="1" i="1">
                <a:latin typeface="Times New Roman" panose="02020603050405020304" charset="0"/>
                <a:ea typeface="Microsoft YaHei" panose="020B0503020204020204" charset="-122"/>
                <a:cs typeface="Times New Roman" panose="02020603050405020304" charset="0"/>
              </a:rPr>
              <a:t>Fig 10: Most purchased product category</a:t>
            </a:r>
            <a:endParaRPr lang="en-US" sz="1600" b="1" i="1">
              <a:latin typeface="Times New Roman" panose="02020603050405020304" charset="0"/>
              <a:ea typeface="Microsoft YaHei" panose="020B0503020204020204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8330" y="130175"/>
            <a:ext cx="10968990" cy="859155"/>
          </a:xfrm>
        </p:spPr>
        <p:txBody>
          <a:bodyPr>
            <a:normAutofit/>
          </a:bodyPr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KEY FINDINGS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Font typeface="Wingdings" panose="05000000000000000000" charset="0"/>
              <a:buChar char="ü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Spending varies across customers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Customer distribution differs by location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Popular payment methods identified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Subscription indicates engagement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Product preferences vary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8330" y="232410"/>
            <a:ext cx="10968990" cy="927100"/>
          </a:xfrm>
        </p:spPr>
        <p:txBody>
          <a:bodyPr/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BUSINESS RECOMMENDATION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Font typeface="Wingdings" panose="05000000000000000000" charset="0"/>
              <a:buChar char="ü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Target high-spending customers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Promote subscriptions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Expand in key locations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Stock popular products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Improve customer satisfaction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8330" y="232410"/>
            <a:ext cx="10968990" cy="945515"/>
          </a:xfrm>
        </p:spPr>
        <p:txBody>
          <a:bodyPr/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Font typeface="Wingdings" panose="05000000000000000000" charset="0"/>
              <a:buChar char="ü"/>
            </a:pPr>
            <a:r>
              <a:rPr lang="en-US" altLang="en-US" sz="2400" b="1"/>
              <a:t>Dataset successfully analyzed</a:t>
            </a:r>
            <a:endParaRPr lang="en-US" altLang="en-US" sz="2400" b="1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 b="1"/>
              <a:t>Customer trends identified</a:t>
            </a:r>
            <a:endParaRPr lang="en-US" altLang="en-US" sz="2400" b="1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 b="1"/>
              <a:t>Business insights generated</a:t>
            </a:r>
            <a:endParaRPr lang="en-US" altLang="en-US" sz="2400" b="1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 b="1"/>
              <a:t>Recommendations provided</a:t>
            </a:r>
            <a:endParaRPr lang="en-US" altLang="en-US" sz="2400" b="1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THANK YOU FOR LISTENING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1864</Words>
  <Application>WPS Presentation</Application>
  <PresentationFormat>Widescreen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Arial Black</vt:lpstr>
      <vt:lpstr>Times New Roman</vt:lpstr>
      <vt:lpstr>Algerian</vt:lpstr>
      <vt:lpstr>Lato</vt:lpstr>
      <vt:lpstr>Helsinki Metronome Std</vt:lpstr>
      <vt:lpstr>Manrope ExtraBold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RESEARCH AND MARKET INSIGHT ANALYTICS</dc:title>
  <dc:creator>Frankincense</dc:creator>
  <cp:lastModifiedBy>Francis Chukwunonyere</cp:lastModifiedBy>
  <cp:revision>3</cp:revision>
  <dcterms:created xsi:type="dcterms:W3CDTF">2026-07-28T20:38:12Z</dcterms:created>
  <dcterms:modified xsi:type="dcterms:W3CDTF">2026-07-28T21:53:32Z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00160523A8F84912B4F24C06741B4843_11</vt:lpwstr>
  </property>
</Properties>
</file>